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D5E81B7-0622-4C75-922D-23CE600ECF0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e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e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6D2995-62E8-4C49-8314-75A57F69114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957AAA-320A-4E3E-A7D4-0A6850CF5DAA}">
      <dgm:prSet/>
      <dgm:spPr/>
      <dgm:t>
        <a:bodyPr/>
        <a:lstStyle/>
        <a:p>
          <a:pPr rtl="0"/>
          <a:r>
            <a:rPr lang="en-US" dirty="0" smtClean="0"/>
            <a:t>ONLINE VS OFFLINE EDUCATION</a:t>
          </a:r>
          <a:endParaRPr lang="en-US" dirty="0"/>
        </a:p>
      </dgm:t>
    </dgm:pt>
    <dgm:pt modelId="{69E69C7A-6BEB-4AF6-9745-849F1B5C6C52}" type="parTrans" cxnId="{A9A6F06F-A703-4DA3-B559-1350E28FB143}">
      <dgm:prSet/>
      <dgm:spPr/>
      <dgm:t>
        <a:bodyPr/>
        <a:lstStyle/>
        <a:p>
          <a:endParaRPr lang="en-US"/>
        </a:p>
      </dgm:t>
    </dgm:pt>
    <dgm:pt modelId="{5EDCCEBE-184A-4CD6-8ACE-4464F95CE8B9}" type="sibTrans" cxnId="{A9A6F06F-A703-4DA3-B559-1350E28FB143}">
      <dgm:prSet/>
      <dgm:spPr/>
      <dgm:t>
        <a:bodyPr/>
        <a:lstStyle/>
        <a:p>
          <a:endParaRPr lang="en-US"/>
        </a:p>
      </dgm:t>
    </dgm:pt>
    <dgm:pt modelId="{ED5353C9-E73B-4E55-8A41-1D75C85B33BA}" type="pres">
      <dgm:prSet presAssocID="{FE6D2995-62E8-4C49-8314-75A57F69114E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7920D6D-EACD-4CC3-9698-99AFAD9619D0}" type="pres">
      <dgm:prSet presAssocID="{B2957AAA-320A-4E3E-A7D4-0A6850CF5DAA}" presName="composite" presStyleCnt="0"/>
      <dgm:spPr/>
    </dgm:pt>
    <dgm:pt modelId="{4FA727FA-BB3E-4D71-A870-F80FEC8AA5C6}" type="pres">
      <dgm:prSet presAssocID="{B2957AAA-320A-4E3E-A7D4-0A6850CF5DAA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</dgm:spPr>
    </dgm:pt>
    <dgm:pt modelId="{399D76F3-61CC-4670-8F20-CE34BB69C52D}" type="pres">
      <dgm:prSet presAssocID="{B2957AAA-320A-4E3E-A7D4-0A6850CF5DAA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84689CE-1D80-4497-B99A-E1406BEA473E}" type="presOf" srcId="{B2957AAA-320A-4E3E-A7D4-0A6850CF5DAA}" destId="{399D76F3-61CC-4670-8F20-CE34BB69C52D}" srcOrd="0" destOrd="0" presId="urn:microsoft.com/office/officeart/2005/8/layout/vList3"/>
    <dgm:cxn modelId="{90EE9286-60A5-4B3F-8E17-8CE6B89D9F34}" type="presOf" srcId="{FE6D2995-62E8-4C49-8314-75A57F69114E}" destId="{ED5353C9-E73B-4E55-8A41-1D75C85B33BA}" srcOrd="0" destOrd="0" presId="urn:microsoft.com/office/officeart/2005/8/layout/vList3"/>
    <dgm:cxn modelId="{A9A6F06F-A703-4DA3-B559-1350E28FB143}" srcId="{FE6D2995-62E8-4C49-8314-75A57F69114E}" destId="{B2957AAA-320A-4E3E-A7D4-0A6850CF5DAA}" srcOrd="0" destOrd="0" parTransId="{69E69C7A-6BEB-4AF6-9745-849F1B5C6C52}" sibTransId="{5EDCCEBE-184A-4CD6-8ACE-4464F95CE8B9}"/>
    <dgm:cxn modelId="{E7E908FE-CB8A-4BCA-B8BF-22E2AC1F6A81}" type="presParOf" srcId="{ED5353C9-E73B-4E55-8A41-1D75C85B33BA}" destId="{57920D6D-EACD-4CC3-9698-99AFAD9619D0}" srcOrd="0" destOrd="0" presId="urn:microsoft.com/office/officeart/2005/8/layout/vList3"/>
    <dgm:cxn modelId="{0E4CC1E9-1787-4A43-B874-F58E6B5AC9A7}" type="presParOf" srcId="{57920D6D-EACD-4CC3-9698-99AFAD9619D0}" destId="{4FA727FA-BB3E-4D71-A870-F80FEC8AA5C6}" srcOrd="0" destOrd="0" presId="urn:microsoft.com/office/officeart/2005/8/layout/vList3"/>
    <dgm:cxn modelId="{99CE4A68-1407-4A66-B58E-B2BAB0210A51}" type="presParOf" srcId="{57920D6D-EACD-4CC3-9698-99AFAD9619D0}" destId="{399D76F3-61CC-4670-8F20-CE34BB69C52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6BA42-FD68-448C-9E2C-5546D3BA1CF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753F0F-C72C-4569-9472-668CB802F7C5}">
      <dgm:prSet/>
      <dgm:spPr/>
      <dgm:t>
        <a:bodyPr/>
        <a:lstStyle/>
        <a:p>
          <a:pPr rtl="0"/>
          <a:r>
            <a:rPr lang="en-US" dirty="0" smtClean="0"/>
            <a:t>Introduction to Online VS Offline</a:t>
          </a:r>
          <a:br>
            <a:rPr lang="en-US" dirty="0" smtClean="0"/>
          </a:br>
          <a:r>
            <a:rPr lang="en-US" dirty="0" smtClean="0"/>
            <a:t>Education</a:t>
          </a:r>
          <a:endParaRPr lang="en-US" dirty="0"/>
        </a:p>
      </dgm:t>
    </dgm:pt>
    <dgm:pt modelId="{A392184A-B9DC-4829-9750-6370377998F7}" type="parTrans" cxnId="{EB36E07C-D7E6-4940-B481-976D464C3D3D}">
      <dgm:prSet/>
      <dgm:spPr/>
      <dgm:t>
        <a:bodyPr/>
        <a:lstStyle/>
        <a:p>
          <a:endParaRPr lang="en-US"/>
        </a:p>
      </dgm:t>
    </dgm:pt>
    <dgm:pt modelId="{0432DE1D-4CA2-4EE5-9810-5A535FA987DF}" type="sibTrans" cxnId="{EB36E07C-D7E6-4940-B481-976D464C3D3D}">
      <dgm:prSet/>
      <dgm:spPr/>
      <dgm:t>
        <a:bodyPr/>
        <a:lstStyle/>
        <a:p>
          <a:endParaRPr lang="en-US"/>
        </a:p>
      </dgm:t>
    </dgm:pt>
    <dgm:pt modelId="{A54B1223-FCAF-4C75-AE6C-C1D5A475FEAF}" type="pres">
      <dgm:prSet presAssocID="{13C6BA42-FD68-448C-9E2C-5546D3BA1CFC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BA98899-80DD-43CA-BDEE-FF6355FEA70A}" type="pres">
      <dgm:prSet presAssocID="{8E753F0F-C72C-4569-9472-668CB802F7C5}" presName="horFlow" presStyleCnt="0"/>
      <dgm:spPr/>
    </dgm:pt>
    <dgm:pt modelId="{17091202-BBA4-4918-822C-B644105756D4}" type="pres">
      <dgm:prSet presAssocID="{8E753F0F-C72C-4569-9472-668CB802F7C5}" presName="bigChev" presStyleLbl="node1" presStyleIdx="0" presStyleCnt="1" custScaleX="272043" custScaleY="100016" custLinFactNeighborX="10875" custLinFactNeighborY="-70"/>
      <dgm:spPr/>
      <dgm:t>
        <a:bodyPr/>
        <a:lstStyle/>
        <a:p>
          <a:endParaRPr lang="en-US"/>
        </a:p>
      </dgm:t>
    </dgm:pt>
  </dgm:ptLst>
  <dgm:cxnLst>
    <dgm:cxn modelId="{63D8886F-7E9E-4FD9-8AB3-1834E9084F42}" type="presOf" srcId="{13C6BA42-FD68-448C-9E2C-5546D3BA1CFC}" destId="{A54B1223-FCAF-4C75-AE6C-C1D5A475FEAF}" srcOrd="0" destOrd="0" presId="urn:microsoft.com/office/officeart/2005/8/layout/lProcess3"/>
    <dgm:cxn modelId="{EB36E07C-D7E6-4940-B481-976D464C3D3D}" srcId="{13C6BA42-FD68-448C-9E2C-5546D3BA1CFC}" destId="{8E753F0F-C72C-4569-9472-668CB802F7C5}" srcOrd="0" destOrd="0" parTransId="{A392184A-B9DC-4829-9750-6370377998F7}" sibTransId="{0432DE1D-4CA2-4EE5-9810-5A535FA987DF}"/>
    <dgm:cxn modelId="{9995303E-01AA-455A-B658-3BEA96BAB12B}" type="presOf" srcId="{8E753F0F-C72C-4569-9472-668CB802F7C5}" destId="{17091202-BBA4-4918-822C-B644105756D4}" srcOrd="0" destOrd="0" presId="urn:microsoft.com/office/officeart/2005/8/layout/lProcess3"/>
    <dgm:cxn modelId="{7A6DB9E3-C6E8-4D74-9610-B0876B1F2CB8}" type="presParOf" srcId="{A54B1223-FCAF-4C75-AE6C-C1D5A475FEAF}" destId="{6BA98899-80DD-43CA-BDEE-FF6355FEA70A}" srcOrd="0" destOrd="0" presId="urn:microsoft.com/office/officeart/2005/8/layout/lProcess3"/>
    <dgm:cxn modelId="{86DED630-7E10-43F6-AD40-1B44D7400017}" type="presParOf" srcId="{6BA98899-80DD-43CA-BDEE-FF6355FEA70A}" destId="{17091202-BBA4-4918-822C-B644105756D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F22ED1-01B1-448D-83FE-59A4CBD5DE6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80EB55-9DFA-46F4-9BDC-ED24120BBBAD}">
      <dgm:prSet/>
      <dgm:spPr/>
      <dgm:t>
        <a:bodyPr/>
        <a:lstStyle/>
        <a:p>
          <a:pPr rtl="0"/>
          <a:r>
            <a:rPr lang="en-US" smtClean="0"/>
            <a:t>What is online education?</a:t>
          </a:r>
          <a:endParaRPr lang="en-US"/>
        </a:p>
      </dgm:t>
    </dgm:pt>
    <dgm:pt modelId="{D1075C6B-1660-4518-AF22-6172606FFCB2}" type="parTrans" cxnId="{70528168-A0AE-4E99-8F10-DB8101D0C069}">
      <dgm:prSet/>
      <dgm:spPr/>
      <dgm:t>
        <a:bodyPr/>
        <a:lstStyle/>
        <a:p>
          <a:endParaRPr lang="en-US"/>
        </a:p>
      </dgm:t>
    </dgm:pt>
    <dgm:pt modelId="{E27CD519-3E89-4AF4-8236-87F0C3E27C7B}" type="sibTrans" cxnId="{70528168-A0AE-4E99-8F10-DB8101D0C069}">
      <dgm:prSet/>
      <dgm:spPr/>
      <dgm:t>
        <a:bodyPr/>
        <a:lstStyle/>
        <a:p>
          <a:endParaRPr lang="en-US"/>
        </a:p>
      </dgm:t>
    </dgm:pt>
    <dgm:pt modelId="{E85D263A-672D-4446-9EC5-5F1489143134}" type="pres">
      <dgm:prSet presAssocID="{D3F22ED1-01B1-448D-83FE-59A4CBD5DE65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CD2E222-E2DB-48F4-96C7-CCE619A76259}" type="pres">
      <dgm:prSet presAssocID="{CE80EB55-9DFA-46F4-9BDC-ED24120BBBAD}" presName="horFlow" presStyleCnt="0"/>
      <dgm:spPr/>
    </dgm:pt>
    <dgm:pt modelId="{AABF2201-A0EF-4795-9637-E586DF7D90DA}" type="pres">
      <dgm:prSet presAssocID="{CE80EB55-9DFA-46F4-9BDC-ED24120BBBAD}" presName="bigChev" presStyleLbl="node1" presStyleIdx="0" presStyleCnt="1" custScaleX="288045"/>
      <dgm:spPr/>
      <dgm:t>
        <a:bodyPr/>
        <a:lstStyle/>
        <a:p>
          <a:endParaRPr lang="en-US"/>
        </a:p>
      </dgm:t>
    </dgm:pt>
  </dgm:ptLst>
  <dgm:cxnLst>
    <dgm:cxn modelId="{70528168-A0AE-4E99-8F10-DB8101D0C069}" srcId="{D3F22ED1-01B1-448D-83FE-59A4CBD5DE65}" destId="{CE80EB55-9DFA-46F4-9BDC-ED24120BBBAD}" srcOrd="0" destOrd="0" parTransId="{D1075C6B-1660-4518-AF22-6172606FFCB2}" sibTransId="{E27CD519-3E89-4AF4-8236-87F0C3E27C7B}"/>
    <dgm:cxn modelId="{18A22C38-BAFE-44DB-87B9-BED66073C373}" type="presOf" srcId="{CE80EB55-9DFA-46F4-9BDC-ED24120BBBAD}" destId="{AABF2201-A0EF-4795-9637-E586DF7D90DA}" srcOrd="0" destOrd="0" presId="urn:microsoft.com/office/officeart/2005/8/layout/lProcess3"/>
    <dgm:cxn modelId="{1C2315DF-581B-41C1-843B-933D510FA4B6}" type="presOf" srcId="{D3F22ED1-01B1-448D-83FE-59A4CBD5DE65}" destId="{E85D263A-672D-4446-9EC5-5F1489143134}" srcOrd="0" destOrd="0" presId="urn:microsoft.com/office/officeart/2005/8/layout/lProcess3"/>
    <dgm:cxn modelId="{8D21BE46-9529-4DAB-98E6-2EFF88000CAA}" type="presParOf" srcId="{E85D263A-672D-4446-9EC5-5F1489143134}" destId="{8CD2E222-E2DB-48F4-96C7-CCE619A76259}" srcOrd="0" destOrd="0" presId="urn:microsoft.com/office/officeart/2005/8/layout/lProcess3"/>
    <dgm:cxn modelId="{955AB84C-21E8-4EAE-B75C-A2B4FE9D645C}" type="presParOf" srcId="{8CD2E222-E2DB-48F4-96C7-CCE619A76259}" destId="{AABF2201-A0EF-4795-9637-E586DF7D90DA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7B019B-531B-4C9C-9D35-F27B08416EAF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6CE6E9-CCA5-4AB9-A5FC-56F0316BCBF4}">
      <dgm:prSet/>
      <dgm:spPr/>
      <dgm:t>
        <a:bodyPr/>
        <a:lstStyle/>
        <a:p>
          <a:pPr rtl="0"/>
          <a:r>
            <a:rPr lang="en-US" smtClean="0"/>
            <a:t>ONLINE EDUCATION</a:t>
          </a:r>
          <a:endParaRPr lang="en-US"/>
        </a:p>
      </dgm:t>
    </dgm:pt>
    <dgm:pt modelId="{43C2DCB5-8984-481F-A2D2-547528E8D608}" type="parTrans" cxnId="{ED87BBED-083E-4844-9347-48D7DC0C9AF0}">
      <dgm:prSet/>
      <dgm:spPr/>
      <dgm:t>
        <a:bodyPr/>
        <a:lstStyle/>
        <a:p>
          <a:endParaRPr lang="en-US"/>
        </a:p>
      </dgm:t>
    </dgm:pt>
    <dgm:pt modelId="{E334FBB0-6B1B-438A-A629-AFB21B06AE3C}" type="sibTrans" cxnId="{ED87BBED-083E-4844-9347-48D7DC0C9AF0}">
      <dgm:prSet/>
      <dgm:spPr/>
      <dgm:t>
        <a:bodyPr/>
        <a:lstStyle/>
        <a:p>
          <a:endParaRPr lang="en-US"/>
        </a:p>
      </dgm:t>
    </dgm:pt>
    <dgm:pt modelId="{1D053BC8-382C-4F23-84D1-03215DFDE3E2}" type="pres">
      <dgm:prSet presAssocID="{4E7B019B-531B-4C9C-9D35-F27B08416EAF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2524B77-4B2A-4EC6-BACB-A257BB68B4E8}" type="pres">
      <dgm:prSet presAssocID="{446CE6E9-CCA5-4AB9-A5FC-56F0316BCBF4}" presName="horFlow" presStyleCnt="0"/>
      <dgm:spPr/>
    </dgm:pt>
    <dgm:pt modelId="{FD126883-2A8B-4120-A494-00C8D9F7F574}" type="pres">
      <dgm:prSet presAssocID="{446CE6E9-CCA5-4AB9-A5FC-56F0316BCBF4}" presName="bigChev" presStyleLbl="node1" presStyleIdx="0" presStyleCnt="1" custScaleX="272043"/>
      <dgm:spPr/>
      <dgm:t>
        <a:bodyPr/>
        <a:lstStyle/>
        <a:p>
          <a:endParaRPr lang="en-US"/>
        </a:p>
      </dgm:t>
    </dgm:pt>
  </dgm:ptLst>
  <dgm:cxnLst>
    <dgm:cxn modelId="{ED87BBED-083E-4844-9347-48D7DC0C9AF0}" srcId="{4E7B019B-531B-4C9C-9D35-F27B08416EAF}" destId="{446CE6E9-CCA5-4AB9-A5FC-56F0316BCBF4}" srcOrd="0" destOrd="0" parTransId="{43C2DCB5-8984-481F-A2D2-547528E8D608}" sibTransId="{E334FBB0-6B1B-438A-A629-AFB21B06AE3C}"/>
    <dgm:cxn modelId="{D3BB3A86-006A-45ED-8115-F5A5EA3EE6F5}" type="presOf" srcId="{4E7B019B-531B-4C9C-9D35-F27B08416EAF}" destId="{1D053BC8-382C-4F23-84D1-03215DFDE3E2}" srcOrd="0" destOrd="0" presId="urn:microsoft.com/office/officeart/2005/8/layout/lProcess3"/>
    <dgm:cxn modelId="{F5A72AA9-B1D3-4C5B-8969-79EC49B2810E}" type="presOf" srcId="{446CE6E9-CCA5-4AB9-A5FC-56F0316BCBF4}" destId="{FD126883-2A8B-4120-A494-00C8D9F7F574}" srcOrd="0" destOrd="0" presId="urn:microsoft.com/office/officeart/2005/8/layout/lProcess3"/>
    <dgm:cxn modelId="{D91ECC7C-162C-4086-BC5D-9FBC3A2121DB}" type="presParOf" srcId="{1D053BC8-382C-4F23-84D1-03215DFDE3E2}" destId="{72524B77-4B2A-4EC6-BACB-A257BB68B4E8}" srcOrd="0" destOrd="0" presId="urn:microsoft.com/office/officeart/2005/8/layout/lProcess3"/>
    <dgm:cxn modelId="{1A8F4E02-4C46-40B4-B23E-A38B47610CBD}" type="presParOf" srcId="{72524B77-4B2A-4EC6-BACB-A257BB68B4E8}" destId="{FD126883-2A8B-4120-A494-00C8D9F7F57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826F28-3B3E-4134-AC42-AD64C5E8CE1D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D4414A-8552-43BE-8143-661EA6F6B87C}">
      <dgm:prSet/>
      <dgm:spPr/>
      <dgm:t>
        <a:bodyPr/>
        <a:lstStyle/>
        <a:p>
          <a:pPr rtl="0"/>
          <a:r>
            <a:rPr lang="en-US" dirty="0" smtClean="0"/>
            <a:t>What is offline education? </a:t>
          </a:r>
          <a:endParaRPr lang="en-US" dirty="0"/>
        </a:p>
      </dgm:t>
    </dgm:pt>
    <dgm:pt modelId="{EBCA7A58-F688-4545-9B88-51901CFE322F}" type="parTrans" cxnId="{3F9B8E3A-0E9C-4FDC-863E-47A7B80B5881}">
      <dgm:prSet/>
      <dgm:spPr/>
      <dgm:t>
        <a:bodyPr/>
        <a:lstStyle/>
        <a:p>
          <a:endParaRPr lang="en-US"/>
        </a:p>
      </dgm:t>
    </dgm:pt>
    <dgm:pt modelId="{6BBFC677-AB4F-4600-BF1D-6F4C727512CD}" type="sibTrans" cxnId="{3F9B8E3A-0E9C-4FDC-863E-47A7B80B5881}">
      <dgm:prSet/>
      <dgm:spPr/>
      <dgm:t>
        <a:bodyPr/>
        <a:lstStyle/>
        <a:p>
          <a:endParaRPr lang="en-US"/>
        </a:p>
      </dgm:t>
    </dgm:pt>
    <dgm:pt modelId="{CB09F104-7161-4895-9E72-B59AA48807CE}" type="pres">
      <dgm:prSet presAssocID="{EE826F28-3B3E-4134-AC42-AD64C5E8CE1D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81B1BF7-2C82-467B-A37D-A42136D5B67C}" type="pres">
      <dgm:prSet presAssocID="{FBD4414A-8552-43BE-8143-661EA6F6B87C}" presName="horFlow" presStyleCnt="0"/>
      <dgm:spPr/>
    </dgm:pt>
    <dgm:pt modelId="{C8E3818F-0E20-41BC-A50B-83027DC54C9A}" type="pres">
      <dgm:prSet presAssocID="{FBD4414A-8552-43BE-8143-661EA6F6B87C}" presName="bigChev" presStyleLbl="node1" presStyleIdx="0" presStyleCnt="1" custScaleX="288045" custLinFactNeighborY="-4036"/>
      <dgm:spPr/>
      <dgm:t>
        <a:bodyPr/>
        <a:lstStyle/>
        <a:p>
          <a:endParaRPr lang="en-US"/>
        </a:p>
      </dgm:t>
    </dgm:pt>
  </dgm:ptLst>
  <dgm:cxnLst>
    <dgm:cxn modelId="{6966400A-8D7B-498A-9848-5C1BCAC5DCC5}" type="presOf" srcId="{FBD4414A-8552-43BE-8143-661EA6F6B87C}" destId="{C8E3818F-0E20-41BC-A50B-83027DC54C9A}" srcOrd="0" destOrd="0" presId="urn:microsoft.com/office/officeart/2005/8/layout/lProcess3"/>
    <dgm:cxn modelId="{D151F826-2DAC-47BF-B545-72B96C0A04A9}" type="presOf" srcId="{EE826F28-3B3E-4134-AC42-AD64C5E8CE1D}" destId="{CB09F104-7161-4895-9E72-B59AA48807CE}" srcOrd="0" destOrd="0" presId="urn:microsoft.com/office/officeart/2005/8/layout/lProcess3"/>
    <dgm:cxn modelId="{3F9B8E3A-0E9C-4FDC-863E-47A7B80B5881}" srcId="{EE826F28-3B3E-4134-AC42-AD64C5E8CE1D}" destId="{FBD4414A-8552-43BE-8143-661EA6F6B87C}" srcOrd="0" destOrd="0" parTransId="{EBCA7A58-F688-4545-9B88-51901CFE322F}" sibTransId="{6BBFC677-AB4F-4600-BF1D-6F4C727512CD}"/>
    <dgm:cxn modelId="{A70F4A61-75B6-42AE-A471-2E8693F5B23C}" type="presParOf" srcId="{CB09F104-7161-4895-9E72-B59AA48807CE}" destId="{081B1BF7-2C82-467B-A37D-A42136D5B67C}" srcOrd="0" destOrd="0" presId="urn:microsoft.com/office/officeart/2005/8/layout/lProcess3"/>
    <dgm:cxn modelId="{DCFEF86D-EACD-4854-823B-C557F0AD3D6E}" type="presParOf" srcId="{081B1BF7-2C82-467B-A37D-A42136D5B67C}" destId="{C8E3818F-0E20-41BC-A50B-83027DC54C9A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E6F6E1C-3A31-4B72-B92E-01994008A1E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46E2A0-2F97-4E6B-A26F-AF71FFE6E1BA}">
      <dgm:prSet/>
      <dgm:spPr/>
      <dgm:t>
        <a:bodyPr/>
        <a:lstStyle/>
        <a:p>
          <a:pPr rtl="0"/>
          <a:r>
            <a:rPr lang="en-US" dirty="0" smtClean="0"/>
            <a:t>OFFLINE EDUCATION</a:t>
          </a:r>
          <a:endParaRPr lang="en-US" dirty="0"/>
        </a:p>
      </dgm:t>
    </dgm:pt>
    <dgm:pt modelId="{5F9B199A-96A6-4706-939E-B8581C82EB90}" type="parTrans" cxnId="{819ED508-1333-4B76-9797-F11C328691D8}">
      <dgm:prSet/>
      <dgm:spPr/>
      <dgm:t>
        <a:bodyPr/>
        <a:lstStyle/>
        <a:p>
          <a:endParaRPr lang="en-US"/>
        </a:p>
      </dgm:t>
    </dgm:pt>
    <dgm:pt modelId="{C70D5802-F00B-430F-83E8-C17082378AFF}" type="sibTrans" cxnId="{819ED508-1333-4B76-9797-F11C328691D8}">
      <dgm:prSet/>
      <dgm:spPr/>
      <dgm:t>
        <a:bodyPr/>
        <a:lstStyle/>
        <a:p>
          <a:endParaRPr lang="en-US"/>
        </a:p>
      </dgm:t>
    </dgm:pt>
    <dgm:pt modelId="{32680BB2-E670-4D77-AE6E-CD5EEBCD5A4A}" type="pres">
      <dgm:prSet presAssocID="{EE6F6E1C-3A31-4B72-B92E-01994008A1E2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9AEC6EA-E226-4433-BDDA-BD94D9897D74}" type="pres">
      <dgm:prSet presAssocID="{1D46E2A0-2F97-4E6B-A26F-AF71FFE6E1BA}" presName="composite" presStyleCnt="0"/>
      <dgm:spPr/>
    </dgm:pt>
    <dgm:pt modelId="{5CACEAF3-F3EE-4662-AF99-CBF76FAA6AED}" type="pres">
      <dgm:prSet presAssocID="{1D46E2A0-2F97-4E6B-A26F-AF71FFE6E1BA}" presName="imgShp" presStyleLbl="fgImgPlace1" presStyleIdx="0" presStyleCnt="1" custScaleY="78611" custLinFactNeighborX="-2267" custLinFactNeighborY="-1069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5000" b="-45000"/>
          </a:stretch>
        </a:blipFill>
      </dgm:spPr>
    </dgm:pt>
    <dgm:pt modelId="{E8E6616A-680E-4FE8-B5DA-25BF7ECA3EA9}" type="pres">
      <dgm:prSet presAssocID="{1D46E2A0-2F97-4E6B-A26F-AF71FFE6E1BA}" presName="txShp" presStyleLbl="node1" presStyleIdx="0" presStyleCnt="1" custScaleY="73334" custLinFactNeighborX="1615" custLinFactNeighborY="-106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F8CEBE5-DE2A-4A60-BC84-FF0CDCED2A05}" type="presOf" srcId="{1D46E2A0-2F97-4E6B-A26F-AF71FFE6E1BA}" destId="{E8E6616A-680E-4FE8-B5DA-25BF7ECA3EA9}" srcOrd="0" destOrd="0" presId="urn:microsoft.com/office/officeart/2005/8/layout/vList3"/>
    <dgm:cxn modelId="{819ED508-1333-4B76-9797-F11C328691D8}" srcId="{EE6F6E1C-3A31-4B72-B92E-01994008A1E2}" destId="{1D46E2A0-2F97-4E6B-A26F-AF71FFE6E1BA}" srcOrd="0" destOrd="0" parTransId="{5F9B199A-96A6-4706-939E-B8581C82EB90}" sibTransId="{C70D5802-F00B-430F-83E8-C17082378AFF}"/>
    <dgm:cxn modelId="{F9330FD3-22AC-4BDF-B518-0DC471ED9E55}" type="presOf" srcId="{EE6F6E1C-3A31-4B72-B92E-01994008A1E2}" destId="{32680BB2-E670-4D77-AE6E-CD5EEBCD5A4A}" srcOrd="0" destOrd="0" presId="urn:microsoft.com/office/officeart/2005/8/layout/vList3"/>
    <dgm:cxn modelId="{0E12F36D-956E-402F-B3F5-11ABEB146266}" type="presParOf" srcId="{32680BB2-E670-4D77-AE6E-CD5EEBCD5A4A}" destId="{79AEC6EA-E226-4433-BDDA-BD94D9897D74}" srcOrd="0" destOrd="0" presId="urn:microsoft.com/office/officeart/2005/8/layout/vList3"/>
    <dgm:cxn modelId="{92BE2F0A-89FD-4BAB-B61D-7841596B6F28}" type="presParOf" srcId="{79AEC6EA-E226-4433-BDDA-BD94D9897D74}" destId="{5CACEAF3-F3EE-4662-AF99-CBF76FAA6AED}" srcOrd="0" destOrd="0" presId="urn:microsoft.com/office/officeart/2005/8/layout/vList3"/>
    <dgm:cxn modelId="{5A877A7C-F488-4FF5-B13F-4AFDE2F83FC4}" type="presParOf" srcId="{79AEC6EA-E226-4433-BDDA-BD94D9897D74}" destId="{E8E6616A-680E-4FE8-B5DA-25BF7ECA3EA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663CB3A-444C-4318-87F4-9960CC26D3C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328471-1EAF-492C-839B-CB7097E9D9B0}">
      <dgm:prSet/>
      <dgm:spPr/>
      <dgm:t>
        <a:bodyPr/>
        <a:lstStyle/>
        <a:p>
          <a:pPr rtl="0"/>
          <a:r>
            <a:rPr lang="en-US" smtClean="0"/>
            <a:t>Advantages of offline education</a:t>
          </a:r>
          <a:endParaRPr lang="en-US"/>
        </a:p>
      </dgm:t>
    </dgm:pt>
    <dgm:pt modelId="{4774CC98-60CA-4C50-AC4E-6D77597B1848}" type="parTrans" cxnId="{5ED3064E-3428-4AC4-AB55-3F63A8132855}">
      <dgm:prSet/>
      <dgm:spPr/>
      <dgm:t>
        <a:bodyPr/>
        <a:lstStyle/>
        <a:p>
          <a:endParaRPr lang="en-US"/>
        </a:p>
      </dgm:t>
    </dgm:pt>
    <dgm:pt modelId="{FA69B907-1647-4E13-B268-5E92DBDBF72E}" type="sibTrans" cxnId="{5ED3064E-3428-4AC4-AB55-3F63A8132855}">
      <dgm:prSet/>
      <dgm:spPr/>
      <dgm:t>
        <a:bodyPr/>
        <a:lstStyle/>
        <a:p>
          <a:endParaRPr lang="en-US"/>
        </a:p>
      </dgm:t>
    </dgm:pt>
    <dgm:pt modelId="{2BB9CE51-3A36-4754-AB19-B22F612A4EAF}" type="pres">
      <dgm:prSet presAssocID="{C663CB3A-444C-4318-87F4-9960CC26D3CA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BF6444E-7903-4B32-ADB4-298D2E53FF0A}" type="pres">
      <dgm:prSet presAssocID="{39328471-1EAF-492C-839B-CB7097E9D9B0}" presName="horFlow" presStyleCnt="0"/>
      <dgm:spPr/>
    </dgm:pt>
    <dgm:pt modelId="{6173244C-9F71-4D64-A14A-4424300D0C18}" type="pres">
      <dgm:prSet presAssocID="{39328471-1EAF-492C-839B-CB7097E9D9B0}" presName="bigChev" presStyleLbl="node1" presStyleIdx="0" presStyleCnt="1" custScaleX="288045"/>
      <dgm:spPr/>
      <dgm:t>
        <a:bodyPr/>
        <a:lstStyle/>
        <a:p>
          <a:endParaRPr lang="en-US"/>
        </a:p>
      </dgm:t>
    </dgm:pt>
  </dgm:ptLst>
  <dgm:cxnLst>
    <dgm:cxn modelId="{5ED3064E-3428-4AC4-AB55-3F63A8132855}" srcId="{C663CB3A-444C-4318-87F4-9960CC26D3CA}" destId="{39328471-1EAF-492C-839B-CB7097E9D9B0}" srcOrd="0" destOrd="0" parTransId="{4774CC98-60CA-4C50-AC4E-6D77597B1848}" sibTransId="{FA69B907-1647-4E13-B268-5E92DBDBF72E}"/>
    <dgm:cxn modelId="{2EE4680F-8BE1-4E15-BDFD-88B9CA24823A}" type="presOf" srcId="{39328471-1EAF-492C-839B-CB7097E9D9B0}" destId="{6173244C-9F71-4D64-A14A-4424300D0C18}" srcOrd="0" destOrd="0" presId="urn:microsoft.com/office/officeart/2005/8/layout/lProcess3"/>
    <dgm:cxn modelId="{491A45D6-CF78-4547-87C2-FD1C81CF49C5}" type="presOf" srcId="{C663CB3A-444C-4318-87F4-9960CC26D3CA}" destId="{2BB9CE51-3A36-4754-AB19-B22F612A4EAF}" srcOrd="0" destOrd="0" presId="urn:microsoft.com/office/officeart/2005/8/layout/lProcess3"/>
    <dgm:cxn modelId="{F44573EC-D47B-4CEA-880E-0A28594D8F02}" type="presParOf" srcId="{2BB9CE51-3A36-4754-AB19-B22F612A4EAF}" destId="{CBF6444E-7903-4B32-ADB4-298D2E53FF0A}" srcOrd="0" destOrd="0" presId="urn:microsoft.com/office/officeart/2005/8/layout/lProcess3"/>
    <dgm:cxn modelId="{500EE9BD-27EF-40BC-B2FD-DC8B96DFD8A7}" type="presParOf" srcId="{CBF6444E-7903-4B32-ADB4-298D2E53FF0A}" destId="{6173244C-9F71-4D64-A14A-4424300D0C18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184FCB7-48E4-4A13-A457-015E29001F8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663D95-5BBF-4942-B2A2-08F62498864D}">
      <dgm:prSet/>
      <dgm:spPr/>
      <dgm:t>
        <a:bodyPr/>
        <a:lstStyle/>
        <a:p>
          <a:pPr rtl="0"/>
          <a:r>
            <a:rPr lang="en-US" smtClean="0"/>
            <a:t>Conclusion</a:t>
          </a:r>
          <a:endParaRPr lang="en-US"/>
        </a:p>
      </dgm:t>
    </dgm:pt>
    <dgm:pt modelId="{2136B02F-161C-40EB-AAD2-C225A0A41C15}" type="parTrans" cxnId="{F66C3356-A92F-458E-9AD1-4FFA22B42463}">
      <dgm:prSet/>
      <dgm:spPr/>
      <dgm:t>
        <a:bodyPr/>
        <a:lstStyle/>
        <a:p>
          <a:endParaRPr lang="en-US"/>
        </a:p>
      </dgm:t>
    </dgm:pt>
    <dgm:pt modelId="{33DF827B-2BE6-4075-B9D6-F5D1A49C67C9}" type="sibTrans" cxnId="{F66C3356-A92F-458E-9AD1-4FFA22B42463}">
      <dgm:prSet/>
      <dgm:spPr/>
      <dgm:t>
        <a:bodyPr/>
        <a:lstStyle/>
        <a:p>
          <a:endParaRPr lang="en-US"/>
        </a:p>
      </dgm:t>
    </dgm:pt>
    <dgm:pt modelId="{58C5C52D-FE1A-4092-995A-68112C2D9163}" type="pres">
      <dgm:prSet presAssocID="{5184FCB7-48E4-4A13-A457-015E29001F89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1EDA2D-5162-4760-A490-EC80D4B0206F}" type="pres">
      <dgm:prSet presAssocID="{12663D95-5BBF-4942-B2A2-08F62498864D}" presName="composite" presStyleCnt="0"/>
      <dgm:spPr/>
    </dgm:pt>
    <dgm:pt modelId="{BD7A61EF-4121-422D-97DC-40132527A234}" type="pres">
      <dgm:prSet presAssocID="{12663D95-5BBF-4942-B2A2-08F62498864D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</dgm:pt>
    <dgm:pt modelId="{DCAD6FEA-FBBD-43A3-A676-3EA0E2FCE74C}" type="pres">
      <dgm:prSet presAssocID="{12663D95-5BBF-4942-B2A2-08F62498864D}" presName="txShp" presStyleLbl="node1" presStyleIdx="0" presStyleCnt="1" custScaleX="1009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B1D842D-7DF6-4C61-A4B8-55E1AD2DC88B}" type="presOf" srcId="{12663D95-5BBF-4942-B2A2-08F62498864D}" destId="{DCAD6FEA-FBBD-43A3-A676-3EA0E2FCE74C}" srcOrd="0" destOrd="0" presId="urn:microsoft.com/office/officeart/2005/8/layout/vList3"/>
    <dgm:cxn modelId="{F66C3356-A92F-458E-9AD1-4FFA22B42463}" srcId="{5184FCB7-48E4-4A13-A457-015E29001F89}" destId="{12663D95-5BBF-4942-B2A2-08F62498864D}" srcOrd="0" destOrd="0" parTransId="{2136B02F-161C-40EB-AAD2-C225A0A41C15}" sibTransId="{33DF827B-2BE6-4075-B9D6-F5D1A49C67C9}"/>
    <dgm:cxn modelId="{C9E6D3D1-6455-46D2-A205-DFA5F1016746}" type="presOf" srcId="{5184FCB7-48E4-4A13-A457-015E29001F89}" destId="{58C5C52D-FE1A-4092-995A-68112C2D9163}" srcOrd="0" destOrd="0" presId="urn:microsoft.com/office/officeart/2005/8/layout/vList3"/>
    <dgm:cxn modelId="{32F2F357-5846-49F4-8375-0B44EEEE13AE}" type="presParOf" srcId="{58C5C52D-FE1A-4092-995A-68112C2D9163}" destId="{AE1EDA2D-5162-4760-A490-EC80D4B0206F}" srcOrd="0" destOrd="0" presId="urn:microsoft.com/office/officeart/2005/8/layout/vList3"/>
    <dgm:cxn modelId="{251CC292-77AB-4B18-8B17-3C16D526B2F1}" type="presParOf" srcId="{AE1EDA2D-5162-4760-A490-EC80D4B0206F}" destId="{BD7A61EF-4121-422D-97DC-40132527A234}" srcOrd="0" destOrd="0" presId="urn:microsoft.com/office/officeart/2005/8/layout/vList3"/>
    <dgm:cxn modelId="{2EE6E705-5F57-4213-B18E-FB10FE7B0ADB}" type="presParOf" srcId="{AE1EDA2D-5162-4760-A490-EC80D4B0206F}" destId="{DCAD6FEA-FBBD-43A3-A676-3EA0E2FCE74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D76F3-61CC-4670-8F20-CE34BB69C52D}">
      <dsp:nvSpPr>
        <dsp:cNvPr id="0" name=""/>
        <dsp:cNvSpPr/>
      </dsp:nvSpPr>
      <dsp:spPr>
        <a:xfrm rot="10800000">
          <a:off x="2417254" y="0"/>
          <a:ext cx="8462391" cy="114300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031" tIns="167640" rIns="312928" bIns="167640" numCol="1" spcCol="1270" anchor="ctr" anchorCtr="0">
          <a:noAutofit/>
        </a:bodyPr>
        <a:lstStyle/>
        <a:p>
          <a:pPr lvl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ONLINE VS OFFLINE EDUCATION</a:t>
          </a:r>
          <a:endParaRPr lang="en-US" sz="4400" kern="1200" dirty="0"/>
        </a:p>
      </dsp:txBody>
      <dsp:txXfrm rot="10800000">
        <a:off x="2703004" y="0"/>
        <a:ext cx="8176641" cy="1143000"/>
      </dsp:txXfrm>
    </dsp:sp>
    <dsp:sp modelId="{4FA727FA-BB3E-4D71-A870-F80FEC8AA5C6}">
      <dsp:nvSpPr>
        <dsp:cNvPr id="0" name=""/>
        <dsp:cNvSpPr/>
      </dsp:nvSpPr>
      <dsp:spPr>
        <a:xfrm>
          <a:off x="1845754" y="0"/>
          <a:ext cx="1143000" cy="114300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91202-BBA4-4918-822C-B644105756D4}">
      <dsp:nvSpPr>
        <dsp:cNvPr id="0" name=""/>
        <dsp:cNvSpPr/>
      </dsp:nvSpPr>
      <dsp:spPr>
        <a:xfrm>
          <a:off x="468117" y="2"/>
          <a:ext cx="7761482" cy="11413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0" bIns="24765" numCol="1" spcCol="1270" anchor="ctr" anchorCtr="0">
          <a:noAutofit/>
        </a:bodyPr>
        <a:lstStyle/>
        <a:p>
          <a:pPr lvl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Introduction to Online VS Offline</a:t>
          </a:r>
          <a:br>
            <a:rPr lang="en-US" sz="3900" kern="1200" dirty="0" smtClean="0"/>
          </a:br>
          <a:r>
            <a:rPr lang="en-US" sz="3900" kern="1200" dirty="0" smtClean="0"/>
            <a:t>Education</a:t>
          </a:r>
          <a:endParaRPr lang="en-US" sz="3900" kern="1200" dirty="0"/>
        </a:p>
      </dsp:txBody>
      <dsp:txXfrm>
        <a:off x="1038815" y="2"/>
        <a:ext cx="6620086" cy="1141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F2201-A0EF-4795-9637-E586DF7D90DA}">
      <dsp:nvSpPr>
        <dsp:cNvPr id="0" name=""/>
        <dsp:cNvSpPr/>
      </dsp:nvSpPr>
      <dsp:spPr>
        <a:xfrm>
          <a:off x="0" y="89"/>
          <a:ext cx="8229599" cy="11428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33020" rIns="0" bIns="33020" numCol="1" spcCol="1270" anchor="ctr" anchorCtr="0">
          <a:noAutofit/>
        </a:bodyPr>
        <a:lstStyle/>
        <a:p>
          <a:pPr lvl="0" algn="ctr" defTabSz="2311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smtClean="0"/>
            <a:t>What is online education?</a:t>
          </a:r>
          <a:endParaRPr lang="en-US" sz="5200" kern="1200"/>
        </a:p>
      </dsp:txBody>
      <dsp:txXfrm>
        <a:off x="571411" y="89"/>
        <a:ext cx="7086778" cy="11428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26883-2A8B-4120-A494-00C8D9F7F574}">
      <dsp:nvSpPr>
        <dsp:cNvPr id="0" name=""/>
        <dsp:cNvSpPr/>
      </dsp:nvSpPr>
      <dsp:spPr>
        <a:xfrm>
          <a:off x="228592" y="89"/>
          <a:ext cx="7772414" cy="11428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0" bIns="40005" numCol="1" spcCol="1270" anchor="ctr" anchorCtr="0">
          <a:noAutofit/>
        </a:bodyPr>
        <a:lstStyle/>
        <a:p>
          <a:pPr lvl="0" algn="ctr" defTabSz="2800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300" kern="1200" smtClean="0"/>
            <a:t>ONLINE EDUCATION</a:t>
          </a:r>
          <a:endParaRPr lang="en-US" sz="6300" kern="1200"/>
        </a:p>
      </dsp:txBody>
      <dsp:txXfrm>
        <a:off x="800003" y="89"/>
        <a:ext cx="6629593" cy="11428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3818F-0E20-41BC-A50B-83027DC54C9A}">
      <dsp:nvSpPr>
        <dsp:cNvPr id="0" name=""/>
        <dsp:cNvSpPr/>
      </dsp:nvSpPr>
      <dsp:spPr>
        <a:xfrm>
          <a:off x="0" y="0"/>
          <a:ext cx="8229599" cy="11428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0" bIns="32385" numCol="1" spcCol="1270" anchor="ctr" anchorCtr="0">
          <a:noAutofit/>
        </a:bodyPr>
        <a:lstStyle/>
        <a:p>
          <a:pPr lvl="0" algn="ctr" defTabSz="2266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100" kern="1200" dirty="0" smtClean="0"/>
            <a:t>What is offline education? </a:t>
          </a:r>
          <a:endParaRPr lang="en-US" sz="5100" kern="1200" dirty="0"/>
        </a:p>
      </dsp:txBody>
      <dsp:txXfrm>
        <a:off x="571411" y="0"/>
        <a:ext cx="7086778" cy="11428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6616A-680E-4FE8-B5DA-25BF7ECA3EA9}">
      <dsp:nvSpPr>
        <dsp:cNvPr id="0" name=""/>
        <dsp:cNvSpPr/>
      </dsp:nvSpPr>
      <dsp:spPr>
        <a:xfrm rot="10800000">
          <a:off x="1752591" y="30163"/>
          <a:ext cx="5472684" cy="8382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031" tIns="144780" rIns="270256" bIns="14478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smtClean="0"/>
            <a:t>OFFLINE EDUCATION</a:t>
          </a:r>
          <a:endParaRPr lang="en-US" sz="3800" kern="1200" dirty="0"/>
        </a:p>
      </dsp:txBody>
      <dsp:txXfrm rot="10800000">
        <a:off x="1962143" y="30163"/>
        <a:ext cx="5263132" cy="838207"/>
      </dsp:txXfrm>
    </dsp:sp>
    <dsp:sp modelId="{5CACEAF3-F3EE-4662-AF99-CBF76FAA6AED}">
      <dsp:nvSpPr>
        <dsp:cNvPr id="0" name=""/>
        <dsp:cNvSpPr/>
      </dsp:nvSpPr>
      <dsp:spPr>
        <a:xfrm>
          <a:off x="1066796" y="5"/>
          <a:ext cx="1143000" cy="898523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5000" b="-4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3244C-9F71-4D64-A14A-4424300D0C18}">
      <dsp:nvSpPr>
        <dsp:cNvPr id="0" name=""/>
        <dsp:cNvSpPr/>
      </dsp:nvSpPr>
      <dsp:spPr>
        <a:xfrm>
          <a:off x="0" y="89"/>
          <a:ext cx="8229599" cy="11428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27305" rIns="0" bIns="27305" numCol="1" spcCol="1270" anchor="ctr" anchorCtr="0">
          <a:noAutofit/>
        </a:bodyPr>
        <a:lstStyle/>
        <a:p>
          <a:pPr lvl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smtClean="0"/>
            <a:t>Advantages of offline education</a:t>
          </a:r>
          <a:endParaRPr lang="en-US" sz="4300" kern="1200"/>
        </a:p>
      </dsp:txBody>
      <dsp:txXfrm>
        <a:off x="571411" y="89"/>
        <a:ext cx="7086778" cy="11428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D6FEA-FBBD-43A3-A676-3EA0E2FCE74C}">
      <dsp:nvSpPr>
        <dsp:cNvPr id="0" name=""/>
        <dsp:cNvSpPr/>
      </dsp:nvSpPr>
      <dsp:spPr>
        <a:xfrm rot="10800000">
          <a:off x="1625338" y="0"/>
          <a:ext cx="5524510" cy="114300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031" tIns="198120" rIns="369824" bIns="198120" numCol="1" spcCol="1270" anchor="ctr" anchorCtr="0">
          <a:noAutofit/>
        </a:bodyPr>
        <a:lstStyle/>
        <a:p>
          <a:pPr lvl="0" algn="ctr" defTabSz="2311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smtClean="0"/>
            <a:t>Conclusion</a:t>
          </a:r>
          <a:endParaRPr lang="en-US" sz="5200" kern="1200"/>
        </a:p>
      </dsp:txBody>
      <dsp:txXfrm rot="10800000">
        <a:off x="1911088" y="0"/>
        <a:ext cx="5238760" cy="1143000"/>
      </dsp:txXfrm>
    </dsp:sp>
    <dsp:sp modelId="{BD7A61EF-4121-422D-97DC-40132527A234}">
      <dsp:nvSpPr>
        <dsp:cNvPr id="0" name=""/>
        <dsp:cNvSpPr/>
      </dsp:nvSpPr>
      <dsp:spPr>
        <a:xfrm>
          <a:off x="1079751" y="0"/>
          <a:ext cx="1143000" cy="114300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2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3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2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99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7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9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7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7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7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CB828-A12D-4D36-8924-243248C26AC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786DC-95E0-47AB-91E8-A9D84FA4A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24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jp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1.jp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4050792"/>
            <a:ext cx="4724400" cy="280720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371600"/>
          </a:xfrm>
          <a:prstGeom prst="rect">
            <a:avLst/>
          </a:prstGeom>
        </p:spPr>
      </p:pic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167488335"/>
              </p:ext>
            </p:extLst>
          </p:nvPr>
        </p:nvGraphicFramePr>
        <p:xfrm>
          <a:off x="-1790700" y="152400"/>
          <a:ext cx="127254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1981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2800"/>
            <a:ext cx="9144000" cy="69799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0792"/>
            <a:ext cx="4419600" cy="28072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0" y="3962400"/>
            <a:ext cx="42672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Prepared by: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1" y="4419600"/>
            <a:ext cx="2438400" cy="24384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Tahira</a:t>
            </a:r>
            <a:r>
              <a:rPr lang="en-US" dirty="0" smtClean="0"/>
              <a:t> </a:t>
            </a:r>
            <a:r>
              <a:rPr lang="en-US" dirty="0" err="1" smtClean="0"/>
              <a:t>Batool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Maheen</a:t>
            </a:r>
            <a:r>
              <a:rPr lang="en-US" dirty="0" smtClean="0"/>
              <a:t> </a:t>
            </a:r>
            <a:r>
              <a:rPr lang="en-US" dirty="0" err="1" smtClean="0"/>
              <a:t>Mohsin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Meerab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Eman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Taha</a:t>
            </a:r>
            <a:r>
              <a:rPr lang="en-US" dirty="0" smtClean="0"/>
              <a:t> Ahmed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4200" y="4419600"/>
            <a:ext cx="2209800" cy="24384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2025-GA-44</a:t>
            </a:r>
          </a:p>
          <a:p>
            <a:pPr marL="0" indent="0">
              <a:buNone/>
            </a:pPr>
            <a:r>
              <a:rPr lang="en-US" dirty="0" smtClean="0"/>
              <a:t>2025-GA-33</a:t>
            </a:r>
          </a:p>
          <a:p>
            <a:pPr marL="0" indent="0">
              <a:buNone/>
            </a:pPr>
            <a:r>
              <a:rPr lang="en-US" dirty="0" smtClean="0"/>
              <a:t>2025-GA-43</a:t>
            </a:r>
          </a:p>
          <a:p>
            <a:pPr marL="0" indent="0">
              <a:buNone/>
            </a:pPr>
            <a:r>
              <a:rPr lang="en-US" dirty="0" smtClean="0"/>
              <a:t>2025-GA-28</a:t>
            </a:r>
          </a:p>
          <a:p>
            <a:pPr marL="0" indent="0">
              <a:buNone/>
            </a:pPr>
            <a:r>
              <a:rPr lang="en-US" dirty="0" smtClean="0"/>
              <a:t>2025-GA-42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00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3810000" cy="6858000"/>
          </a:xfrm>
          <a:prstGeom prst="rect">
            <a:avLst/>
          </a:prstGeom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643995912"/>
              </p:ext>
            </p:extLst>
          </p:nvPr>
        </p:nvGraphicFramePr>
        <p:xfrm>
          <a:off x="228600" y="76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1"/>
            <a:ext cx="5410200" cy="525779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 Education can be learned in two   main ways: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Online and Offline</a:t>
            </a:r>
          </a:p>
          <a:p>
            <a:pPr marL="0" indent="0">
              <a:buNone/>
            </a:pPr>
            <a:r>
              <a:rPr lang="en-US" dirty="0" smtClean="0"/>
              <a:t>Online learning happens through mobile, laptop, or computer.</a:t>
            </a:r>
          </a:p>
          <a:p>
            <a:pPr marL="0" indent="0">
              <a:buNone/>
            </a:pPr>
            <a:r>
              <a:rPr lang="en-US" dirty="0" smtClean="0"/>
              <a:t>Offline learning takes place in a classroom with a teacher.</a:t>
            </a:r>
          </a:p>
          <a:p>
            <a:pPr marL="0" indent="0">
              <a:buNone/>
            </a:pPr>
            <a:r>
              <a:rPr lang="en-US" dirty="0" smtClean="0"/>
              <a:t>Both methods help students learn, but in different ways.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3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9144000" cy="5638800"/>
          </a:xfr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422021446"/>
              </p:ext>
            </p:extLst>
          </p:nvPr>
        </p:nvGraphicFramePr>
        <p:xfrm>
          <a:off x="609600" y="76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912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099099849"/>
              </p:ext>
            </p:extLst>
          </p:nvPr>
        </p:nvGraphicFramePr>
        <p:xfrm>
          <a:off x="457200" y="76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4800600" cy="5257799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Online learning is a method of distance learning using the internet and a computer.</a:t>
            </a:r>
          </a:p>
          <a:p>
            <a:r>
              <a:rPr lang="en-US" dirty="0" smtClean="0"/>
              <a:t>In our country, as in the rest of the world, companies, educational institutions and teachers prefer to implement e-education.</a:t>
            </a:r>
          </a:p>
          <a:p>
            <a:r>
              <a:rPr lang="en-US" dirty="0" smtClean="0"/>
              <a:t>Because some forms of online classes are more suitable for training their employees and students.</a:t>
            </a:r>
          </a:p>
          <a:p>
            <a:r>
              <a:rPr lang="en-US" dirty="0" smtClean="0"/>
              <a:t>Teacher create their own courses, conduct webinars, share knowledge.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219200"/>
            <a:ext cx="4419600" cy="563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09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9341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online education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4876800" cy="5257800"/>
          </a:xfrm>
        </p:spPr>
        <p:txBody>
          <a:bodyPr/>
          <a:lstStyle/>
          <a:p>
            <a:r>
              <a:rPr lang="en-US" dirty="0" smtClean="0"/>
              <a:t>It is flexible; can be accessed from anywhere with a device and internet connection.</a:t>
            </a:r>
          </a:p>
          <a:p>
            <a:r>
              <a:rPr lang="en-US" dirty="0" smtClean="0"/>
              <a:t>Budget-friendly.</a:t>
            </a:r>
          </a:p>
          <a:p>
            <a:r>
              <a:rPr lang="en-US" dirty="0" smtClean="0"/>
              <a:t>Convenient attendance.</a:t>
            </a:r>
          </a:p>
          <a:p>
            <a:r>
              <a:rPr lang="en-US" dirty="0" smtClean="0"/>
              <a:t>Class recordings are available for later references.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066800"/>
            <a:ext cx="3581400" cy="4495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5587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7315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01762"/>
          </a:xfrm>
        </p:spPr>
        <p:txBody>
          <a:bodyPr/>
          <a:lstStyle/>
          <a:p>
            <a:r>
              <a:rPr lang="en-US" dirty="0" smtClean="0"/>
              <a:t>Disadvantages of online education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205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Internet requirements </a:t>
            </a:r>
          </a:p>
          <a:p>
            <a:r>
              <a:rPr lang="en-US" dirty="0" smtClean="0"/>
              <a:t>Response Barriers</a:t>
            </a:r>
          </a:p>
          <a:p>
            <a:r>
              <a:rPr lang="en-US" dirty="0" smtClean="0"/>
              <a:t>No Interaction</a:t>
            </a:r>
          </a:p>
          <a:p>
            <a:r>
              <a:rPr lang="en-US" dirty="0" smtClean="0"/>
              <a:t>Not real time study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1400"/>
            <a:ext cx="9144000" cy="3657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292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2370456"/>
              </p:ext>
            </p:extLst>
          </p:nvPr>
        </p:nvGraphicFramePr>
        <p:xfrm>
          <a:off x="457200" y="76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6809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2800"/>
            <a:ext cx="9144000" cy="3505200"/>
          </a:xfrm>
          <a:prstGeom prst="rect">
            <a:avLst/>
          </a:pr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26486083"/>
              </p:ext>
            </p:extLst>
          </p:nvPr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133599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Also referred to as traditional training. Offline education means a student needs to go in school, in a classroom, and attend a class face to face with a teacher.</a:t>
            </a:r>
          </a:p>
          <a:p>
            <a:r>
              <a:rPr lang="en-US" dirty="0" smtClean="0"/>
              <a:t>In an offline setting, students listen to long lectures and take notes, sometimes easily get bored and might doze off a little.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05200"/>
            <a:ext cx="7924800" cy="32004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9381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0"/>
            <a:ext cx="5181600" cy="3886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03158019"/>
              </p:ext>
            </p:extLst>
          </p:nvPr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1"/>
            <a:ext cx="8229600" cy="2362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Guidance.</a:t>
            </a:r>
          </a:p>
          <a:p>
            <a:r>
              <a:rPr lang="en-US" dirty="0" smtClean="0"/>
              <a:t>Real time education.</a:t>
            </a:r>
          </a:p>
          <a:p>
            <a:r>
              <a:rPr lang="en-US" dirty="0" smtClean="0"/>
              <a:t>High learning.</a:t>
            </a:r>
          </a:p>
          <a:p>
            <a:r>
              <a:rPr lang="en-US" dirty="0" smtClean="0"/>
              <a:t>No isolation.</a:t>
            </a:r>
          </a:p>
          <a:p>
            <a:r>
              <a:rPr lang="en-US" dirty="0" smtClean="0"/>
              <a:t>True form of learning</a:t>
            </a:r>
            <a:endParaRPr lang="en-US" dirty="0"/>
          </a:p>
          <a:p>
            <a:endParaRPr lang="en-US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2400"/>
            <a:ext cx="9144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8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 smtClean="0"/>
              <a:t>Disadvantages of offline education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2514601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Students may lack the opportunity to learn advancing technology.</a:t>
            </a:r>
          </a:p>
          <a:p>
            <a:r>
              <a:rPr lang="en-US" dirty="0" smtClean="0"/>
              <a:t>Time management becomes an issue for students who reside far away from campus.</a:t>
            </a:r>
          </a:p>
          <a:p>
            <a:r>
              <a:rPr lang="en-US" dirty="0" smtClean="0"/>
              <a:t>No recording or any other form of data is not always available for students who missed the class or later references.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2801"/>
            <a:ext cx="9144000" cy="3505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25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COMPARISON</a:t>
            </a:r>
            <a:endParaRPr lang="en-US" sz="4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1066800"/>
            <a:ext cx="4040188" cy="6397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ONLINE EDUCATION</a:t>
            </a:r>
            <a:endParaRPr lang="en-US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57200" y="1641475"/>
            <a:ext cx="4040188" cy="239712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Digitalized tools and methods of teaching.</a:t>
            </a:r>
          </a:p>
          <a:p>
            <a:r>
              <a:rPr lang="en-US" dirty="0" smtClean="0"/>
              <a:t>Cost-effective and time-saving.</a:t>
            </a:r>
          </a:p>
          <a:p>
            <a:endParaRPr lang="en-US" dirty="0" smtClean="0"/>
          </a:p>
          <a:p>
            <a:r>
              <a:rPr lang="en-US" dirty="0" smtClean="0"/>
              <a:t>Virtual classrooms.</a:t>
            </a:r>
          </a:p>
          <a:p>
            <a:r>
              <a:rPr lang="en-US" dirty="0" smtClean="0"/>
              <a:t>Online classes have a flexible schedule.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953000" y="1066800"/>
            <a:ext cx="4041775" cy="6397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OFFLINE EDUCATION</a:t>
            </a:r>
            <a:endParaRPr lang="en-US" sz="28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645025" y="1600200"/>
            <a:ext cx="4041775" cy="2286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Traditional tools and methods of teaching.</a:t>
            </a:r>
          </a:p>
          <a:p>
            <a:r>
              <a:rPr lang="en-US" dirty="0" smtClean="0"/>
              <a:t>More expensive than online education and consumes more time.</a:t>
            </a:r>
          </a:p>
          <a:p>
            <a:r>
              <a:rPr lang="en-US" dirty="0" smtClean="0"/>
              <a:t>Physical classrooms.</a:t>
            </a:r>
          </a:p>
          <a:p>
            <a:r>
              <a:rPr lang="en-US" dirty="0" smtClean="0"/>
              <a:t>Offline classes have a fixed and strict schedule.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0"/>
            <a:ext cx="4572000" cy="304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3886200"/>
            <a:ext cx="4648200" cy="2971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11111" y1="72794" x2="58333" y2="715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-381000"/>
            <a:ext cx="10896600" cy="124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0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971399709"/>
              </p:ext>
            </p:extLst>
          </p:nvPr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Online education is convenient wherever you want to give it anytime and in any situation and has less basic requirements than offline education. Online education is generally preferred by non-school students as well. But students learning online do not have easy access to teachers. So the problems of these students do not go away quickly.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" y="3810000"/>
            <a:ext cx="9144000" cy="304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168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 rot="20377624">
            <a:off x="1025324" y="1412074"/>
            <a:ext cx="7120605" cy="3948992"/>
          </a:xfrm>
        </p:spPr>
        <p:style>
          <a:lnRef idx="1">
            <a:schemeClr val="accent5"/>
          </a:lnRef>
          <a:fillRef idx="1002">
            <a:schemeClr val="dk2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7200" dirty="0">
                <a:latin typeface="Algerian" panose="04020705040A02060702" pitchFamily="82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14194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446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Prepared by:</vt:lpstr>
      <vt:lpstr>PowerPoint Presentation</vt:lpstr>
      <vt:lpstr>PowerPoint Presentation</vt:lpstr>
      <vt:lpstr>PowerPoint Presentation</vt:lpstr>
      <vt:lpstr>Advantages of online education </vt:lpstr>
      <vt:lpstr>Disadvantages of online education</vt:lpstr>
      <vt:lpstr>PowerPoint Presentation</vt:lpstr>
      <vt:lpstr>PowerPoint Presentation</vt:lpstr>
      <vt:lpstr>PowerPoint Presentation</vt:lpstr>
      <vt:lpstr>Disadvantages of offline education</vt:lpstr>
      <vt:lpstr>COMPARISON</vt:lpstr>
      <vt:lpstr>PowerPoint Presentation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VS Offline  Education</dc:title>
  <dc:creator>dell</dc:creator>
  <cp:lastModifiedBy>dell</cp:lastModifiedBy>
  <cp:revision>32</cp:revision>
  <dcterms:created xsi:type="dcterms:W3CDTF">2025-11-15T10:31:19Z</dcterms:created>
  <dcterms:modified xsi:type="dcterms:W3CDTF">2025-11-18T06:12:43Z</dcterms:modified>
</cp:coreProperties>
</file>